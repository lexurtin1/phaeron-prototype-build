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92" cy="6857891"/>
          </a:xfrm>
          <a:prstGeom prst="rect">
            <a:avLst/>
          </a:prstGeom>
          <a:ln/>
          <a:effectLst>
            <a:outerShdw sx="100000" sy="100000" kx="0" ky="0" algn="bl" rotWithShape="0" blurRad="285750" dist="95250" dir="5400000">
              <a:srgbClr val="22323D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 rot="-2700000">
            <a:off x="6868512" y="1160170"/>
            <a:ext cx="4953002" cy="133350"/>
          </a:xfrm>
          <a:prstGeom prst="rect">
            <a:avLst/>
          </a:prstGeom>
          <a:solidFill>
            <a:srgbClr val="B3DDD7"/>
          </a:solidFill>
          <a:ln/>
        </p:spPr>
      </p:sp>
      <p:sp>
        <p:nvSpPr>
          <p:cNvPr id="4" name="Shape 2"/>
          <p:cNvSpPr/>
          <p:nvPr/>
        </p:nvSpPr>
        <p:spPr>
          <a:xfrm>
            <a:off x="7715362" y="1333390"/>
            <a:ext cx="3619390" cy="3981428"/>
          </a:xfrm>
          <a:prstGeom prst="rect">
            <a:avLst/>
          </a:prstGeom>
          <a:solidFill>
            <a:srgbClr val="EEF8F6"/>
          </a:solidFill>
          <a:ln w="14111">
            <a:solidFill>
              <a:srgbClr val="DCEF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2700000">
            <a:off x="8478921" y="9154926"/>
            <a:ext cx="5334002" cy="857250"/>
          </a:xfrm>
          <a:prstGeom prst="rect">
            <a:avLst/>
          </a:prstGeom>
          <a:gradFill rotWithShape="1">
            <a:gsLst>
              <a:gs pos="0">
                <a:srgbClr val="2D9A8E">
                  <a:alpha val="100000"/>
                </a:srgbClr>
              </a:gs>
              <a:gs pos="100000">
                <a:srgbClr val="35B57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914356" y="1638212"/>
            <a:ext cx="6640602" cy="161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95" kern="0" dirty="0">
                <a:solidFill>
                  <a:srgbClr val="26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GLOBAL FUNDS NETWORK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914356" y="1933443"/>
            <a:ext cx="6218018" cy="1345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950" b="1" spc="-99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Calastone Network </a:t>
            </a:r>
            <a:pPr algn="l" indent="0" marL="0">
              <a:lnSpc>
                <a:spcPct val="104000"/>
              </a:lnSpc>
              <a:buNone/>
            </a:pPr>
            <a:r>
              <a:rPr lang="en-US" sz="4950" b="1" spc="-99" kern="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Mutual Funds</a:t>
            </a:r>
            <a:endParaRPr lang="en-US" sz="4950" dirty="0"/>
          </a:p>
        </p:txBody>
      </p:sp>
      <p:sp>
        <p:nvSpPr>
          <p:cNvPr id="8" name="Shape 6"/>
          <p:cNvSpPr/>
          <p:nvPr/>
        </p:nvSpPr>
        <p:spPr>
          <a:xfrm>
            <a:off x="914356" y="3507604"/>
            <a:ext cx="838178" cy="5710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D9A8E">
                  <a:alpha val="100000"/>
                </a:srgbClr>
              </a:gs>
              <a:gs pos="100000">
                <a:srgbClr val="35B57E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9" name="Text 7"/>
          <p:cNvSpPr/>
          <p:nvPr/>
        </p:nvSpPr>
        <p:spPr>
          <a:xfrm>
            <a:off x="914356" y="3831388"/>
            <a:ext cx="5493907" cy="6380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dirty="0">
                <a:solidFill>
                  <a:srgbClr val="566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connection reaches the whole market — any message type, any format, routed automatically.</a:t>
            </a:r>
            <a:endParaRPr lang="en-US" sz="1575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56" y="6076929"/>
            <a:ext cx="1327106" cy="24760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787600" y="6181770"/>
            <a:ext cx="1974233" cy="142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16" kern="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CALASTONE LIMITED 2026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92" cy="6857891"/>
          </a:xfrm>
          <a:prstGeom prst="rect">
            <a:avLst/>
          </a:prstGeom>
          <a:ln/>
          <a:effectLst>
            <a:outerShdw sx="100000" sy="100000" kx="0" ky="0" algn="bl" rotWithShape="0" blurRad="285750" dist="95250" dir="5400000">
              <a:srgbClr val="22323D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28534" y="228534"/>
            <a:ext cx="11734823" cy="6400823"/>
          </a:xfrm>
          <a:prstGeom prst="roundRect">
            <a:avLst>
              <a:gd name="adj" fmla="val 893"/>
            </a:avLst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 rot="-2700000">
            <a:off x="6930541" y="1284679"/>
            <a:ext cx="4381501" cy="114300"/>
          </a:xfrm>
          <a:prstGeom prst="rect">
            <a:avLst/>
          </a:prstGeom>
          <a:solidFill>
            <a:srgbClr val="B3DDD7"/>
          </a:solidFill>
          <a:ln/>
        </p:spPr>
      </p:sp>
      <p:sp>
        <p:nvSpPr>
          <p:cNvPr id="5" name="Shape 3"/>
          <p:cNvSpPr/>
          <p:nvPr/>
        </p:nvSpPr>
        <p:spPr>
          <a:xfrm rot="-2700000">
            <a:off x="8514017" y="8777739"/>
            <a:ext cx="4953002" cy="762000"/>
          </a:xfrm>
          <a:prstGeom prst="rect">
            <a:avLst/>
          </a:prstGeom>
          <a:gradFill rotWithShape="1">
            <a:gsLst>
              <a:gs pos="0">
                <a:srgbClr val="2D9A8E">
                  <a:alpha val="100000"/>
                </a:srgbClr>
              </a:gs>
              <a:gs pos="100000">
                <a:srgbClr val="35B57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38068" y="685712"/>
            <a:ext cx="8615199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900" b="1" spc="-39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SIMPLIFYING TRADING INSIGHTS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57140" y="1352462"/>
            <a:ext cx="7787791" cy="33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575" b="1" dirty="0">
                <a:solidFill>
                  <a:srgbClr val="26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processes and connectivity result in delayed insights into trading activity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857140" y="1923962"/>
            <a:ext cx="10267830" cy="3075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2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managers are slow to get a holistic view of fund sales and unusual transaction notifications.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857140" y="2364824"/>
            <a:ext cx="9614422" cy="569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2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at NSCC and TAs, plus complex connectivity, results in overheads and untimely notification.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857140" y="3068065"/>
            <a:ext cx="9614422" cy="569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25" b="1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algn="l" indent="0" marL="0">
              <a:lnSpc>
                <a:spcPct val="145000"/>
              </a:lnSpc>
              <a:buNone/>
            </a:pPr>
            <a:r>
              <a:rPr lang="en-US" sz="1425" dirty="0">
                <a:solidFill>
                  <a:srgbClr val="22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Calastone lets fund distributors connect to the network via their preferred method, with real-time processing and trade insights.</a:t>
            </a:r>
            <a:endParaRPr lang="en-US" sz="1425" dirty="0"/>
          </a:p>
        </p:txBody>
      </p:sp>
      <p:sp>
        <p:nvSpPr>
          <p:cNvPr id="11" name="Shape 9"/>
          <p:cNvSpPr/>
          <p:nvPr/>
        </p:nvSpPr>
        <p:spPr>
          <a:xfrm>
            <a:off x="838068" y="4072048"/>
            <a:ext cx="1142890" cy="1257212"/>
          </a:xfrm>
          <a:prstGeom prst="rect">
            <a:avLst/>
          </a:prstGeom>
          <a:solidFill>
            <a:srgbClr val="3D8DB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2780" y="4518422"/>
            <a:ext cx="609556" cy="21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 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2412" y="4693599"/>
            <a:ext cx="770401" cy="21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076097" y="4686433"/>
            <a:ext cx="981384" cy="28553"/>
          </a:xfrm>
          <a:prstGeom prst="rect">
            <a:avLst/>
          </a:prstGeom>
          <a:solidFill>
            <a:srgbClr val="22323D"/>
          </a:solidFill>
          <a:ln/>
        </p:spPr>
      </p:sp>
      <p:sp>
        <p:nvSpPr>
          <p:cNvPr id="15" name="Shape 13"/>
          <p:cNvSpPr/>
          <p:nvPr/>
        </p:nvSpPr>
        <p:spPr>
          <a:xfrm>
            <a:off x="3152621" y="4195851"/>
            <a:ext cx="914356" cy="1009606"/>
          </a:xfrm>
          <a:prstGeom prst="rect">
            <a:avLst/>
          </a:prstGeom>
          <a:solidFill>
            <a:srgbClr val="43A89C"/>
          </a:solidFill>
          <a:ln/>
        </p:spPr>
      </p:sp>
      <p:sp>
        <p:nvSpPr>
          <p:cNvPr id="16" name="Text 14"/>
          <p:cNvSpPr/>
          <p:nvPr/>
        </p:nvSpPr>
        <p:spPr>
          <a:xfrm>
            <a:off x="3171671" y="4195851"/>
            <a:ext cx="876256" cy="1047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in any format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62117" y="4686433"/>
            <a:ext cx="981494" cy="28553"/>
          </a:xfrm>
          <a:prstGeom prst="rect">
            <a:avLst/>
          </a:prstGeom>
          <a:solidFill>
            <a:srgbClr val="22323D"/>
          </a:solidFill>
          <a:ln/>
        </p:spPr>
      </p:sp>
      <p:sp>
        <p:nvSpPr>
          <p:cNvPr id="18" name="Shape 16"/>
          <p:cNvSpPr/>
          <p:nvPr/>
        </p:nvSpPr>
        <p:spPr>
          <a:xfrm>
            <a:off x="5238750" y="3914952"/>
            <a:ext cx="1428640" cy="1571515"/>
          </a:xfrm>
          <a:prstGeom prst="rect">
            <a:avLst/>
          </a:prstGeom>
          <a:solidFill>
            <a:srgbClr val="0D1418"/>
          </a:solidFill>
          <a:ln/>
        </p:spPr>
      </p:sp>
      <p:sp>
        <p:nvSpPr>
          <p:cNvPr id="19" name="Text 17"/>
          <p:cNvSpPr/>
          <p:nvPr/>
        </p:nvSpPr>
        <p:spPr>
          <a:xfrm>
            <a:off x="5200650" y="3914952"/>
            <a:ext cx="1504840" cy="16096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b="1" spc="9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CALASTONE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762530" y="4686433"/>
            <a:ext cx="981384" cy="28553"/>
          </a:xfrm>
          <a:prstGeom prst="rect">
            <a:avLst/>
          </a:prstGeom>
          <a:solidFill>
            <a:srgbClr val="22323D"/>
          </a:solidFill>
          <a:ln/>
        </p:spPr>
      </p:sp>
      <p:sp>
        <p:nvSpPr>
          <p:cNvPr id="21" name="Shape 19"/>
          <p:cNvSpPr/>
          <p:nvPr/>
        </p:nvSpPr>
        <p:spPr>
          <a:xfrm>
            <a:off x="7839054" y="4195851"/>
            <a:ext cx="914356" cy="1009606"/>
          </a:xfrm>
          <a:prstGeom prst="rect">
            <a:avLst/>
          </a:prstGeom>
          <a:solidFill>
            <a:srgbClr val="43A89C"/>
          </a:solidFill>
          <a:ln/>
        </p:spPr>
      </p:sp>
      <p:sp>
        <p:nvSpPr>
          <p:cNvPr id="22" name="Text 20"/>
          <p:cNvSpPr/>
          <p:nvPr/>
        </p:nvSpPr>
        <p:spPr>
          <a:xfrm>
            <a:off x="7858104" y="4195851"/>
            <a:ext cx="876256" cy="1047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format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48550" y="4686433"/>
            <a:ext cx="981494" cy="28553"/>
          </a:xfrm>
          <a:prstGeom prst="rect">
            <a:avLst/>
          </a:prstGeom>
          <a:solidFill>
            <a:srgbClr val="22323D"/>
          </a:solidFill>
          <a:ln/>
        </p:spPr>
      </p:sp>
      <p:sp>
        <p:nvSpPr>
          <p:cNvPr id="24" name="Shape 22"/>
          <p:cNvSpPr/>
          <p:nvPr/>
        </p:nvSpPr>
        <p:spPr>
          <a:xfrm>
            <a:off x="9925184" y="4475979"/>
            <a:ext cx="1428640" cy="449351"/>
          </a:xfrm>
          <a:prstGeom prst="roundRect">
            <a:avLst>
              <a:gd name="adj" fmla="val 8479"/>
            </a:avLst>
          </a:prstGeom>
          <a:solidFill>
            <a:srgbClr val="56A773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534" y="4609329"/>
            <a:ext cx="1161940" cy="2207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Manager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78" y="6362789"/>
            <a:ext cx="1122715" cy="209462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9672837" y="6429376"/>
            <a:ext cx="2205247" cy="142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16" kern="0" dirty="0">
                <a:solidFill>
                  <a:srgbClr val="7A8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CALASTONE LIMITED 2026 · 4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92" cy="6857891"/>
          </a:xfrm>
          <a:prstGeom prst="rect">
            <a:avLst/>
          </a:prstGeom>
          <a:ln/>
          <a:effectLst>
            <a:outerShdw sx="100000" sy="100000" kx="0" ky="0" algn="bl" rotWithShape="0" blurRad="285750" dist="95250" dir="5400000">
              <a:srgbClr val="22323D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28534" y="228534"/>
            <a:ext cx="11734823" cy="6400823"/>
          </a:xfrm>
          <a:prstGeom prst="roundRect">
            <a:avLst>
              <a:gd name="adj" fmla="val 893"/>
            </a:avLst>
          </a:prstGeom>
          <a:solidFill>
            <a:srgbClr val="ECECEC"/>
          </a:solidFill>
          <a:ln/>
        </p:spPr>
      </p:sp>
      <p:sp>
        <p:nvSpPr>
          <p:cNvPr id="4" name="Shape 2"/>
          <p:cNvSpPr/>
          <p:nvPr/>
        </p:nvSpPr>
        <p:spPr>
          <a:xfrm rot="-2700000">
            <a:off x="6930541" y="1284680"/>
            <a:ext cx="4381501" cy="114300"/>
          </a:xfrm>
          <a:prstGeom prst="rect">
            <a:avLst/>
          </a:prstGeom>
          <a:solidFill>
            <a:srgbClr val="B3DDD7"/>
          </a:solidFill>
          <a:ln/>
        </p:spPr>
      </p:sp>
      <p:sp>
        <p:nvSpPr>
          <p:cNvPr id="5" name="Shape 3"/>
          <p:cNvSpPr/>
          <p:nvPr/>
        </p:nvSpPr>
        <p:spPr>
          <a:xfrm rot="-2700000">
            <a:off x="8514017" y="8777739"/>
            <a:ext cx="4953002" cy="762000"/>
          </a:xfrm>
          <a:prstGeom prst="rect">
            <a:avLst/>
          </a:prstGeom>
          <a:gradFill rotWithShape="1">
            <a:gsLst>
              <a:gs pos="0">
                <a:srgbClr val="2D9A8E">
                  <a:alpha val="100000"/>
                </a:srgbClr>
              </a:gs>
              <a:gs pos="100000">
                <a:srgbClr val="35B57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838068" y="742818"/>
            <a:ext cx="787037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900" b="1" spc="-39" kern="0" dirty="0">
                <a:solidFill>
                  <a:srgbClr val="0D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CONNECTIVITY AS STANDARD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1667316" y="2523905"/>
            <a:ext cx="1428640" cy="1571515"/>
          </a:xfrm>
          <a:prstGeom prst="rect">
            <a:avLst/>
          </a:prstGeom>
          <a:solidFill>
            <a:srgbClr val="3D8DBC"/>
          </a:solidFill>
          <a:ln/>
        </p:spPr>
      </p:sp>
      <p:sp>
        <p:nvSpPr>
          <p:cNvPr id="8" name="Text 6"/>
          <p:cNvSpPr/>
          <p:nvPr/>
        </p:nvSpPr>
        <p:spPr>
          <a:xfrm>
            <a:off x="2186892" y="3126824"/>
            <a:ext cx="465578" cy="21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48748" y="3309607"/>
            <a:ext cx="541977" cy="21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00639" y="2645503"/>
            <a:ext cx="17810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6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connection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3381596" y="2897849"/>
            <a:ext cx="1619140" cy="76178"/>
          </a:xfrm>
          <a:prstGeom prst="roundRect">
            <a:avLst>
              <a:gd name="adj" fmla="val 50000"/>
            </a:avLst>
          </a:prstGeom>
          <a:solidFill>
            <a:srgbClr val="2D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3300639" y="3145455"/>
            <a:ext cx="17810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connection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3381596" y="3397802"/>
            <a:ext cx="1619140" cy="76178"/>
          </a:xfrm>
          <a:prstGeom prst="roundRect">
            <a:avLst>
              <a:gd name="adj" fmla="val 50000"/>
            </a:avLst>
          </a:prstGeom>
          <a:solidFill>
            <a:srgbClr val="9AA6B0"/>
          </a:solidFill>
          <a:ln/>
        </p:spPr>
      </p:sp>
      <p:sp>
        <p:nvSpPr>
          <p:cNvPr id="14" name="Text 12"/>
          <p:cNvSpPr/>
          <p:nvPr/>
        </p:nvSpPr>
        <p:spPr>
          <a:xfrm>
            <a:off x="3300639" y="3645408"/>
            <a:ext cx="17810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3D8D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 data feed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3381596" y="3897754"/>
            <a:ext cx="1619140" cy="76178"/>
          </a:xfrm>
          <a:prstGeom prst="roundRect">
            <a:avLst>
              <a:gd name="adj" fmla="val 50000"/>
            </a:avLst>
          </a:prstGeom>
          <a:solidFill>
            <a:srgbClr val="9FC3E0"/>
          </a:solidFill>
          <a:ln/>
        </p:spPr>
      </p:sp>
      <p:sp>
        <p:nvSpPr>
          <p:cNvPr id="16" name="Shape 14"/>
          <p:cNvSpPr/>
          <p:nvPr/>
        </p:nvSpPr>
        <p:spPr>
          <a:xfrm>
            <a:off x="5286375" y="2419174"/>
            <a:ext cx="1619140" cy="1781087"/>
          </a:xfrm>
          <a:prstGeom prst="rect">
            <a:avLst/>
          </a:prstGeom>
          <a:solidFill>
            <a:srgbClr val="0D1418"/>
          </a:solidFill>
          <a:ln/>
        </p:spPr>
      </p:sp>
      <p:sp>
        <p:nvSpPr>
          <p:cNvPr id="17" name="Text 15"/>
          <p:cNvSpPr/>
          <p:nvPr/>
        </p:nvSpPr>
        <p:spPr>
          <a:xfrm>
            <a:off x="5248275" y="2419174"/>
            <a:ext cx="1695340" cy="18191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Calastone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110199" y="2645503"/>
            <a:ext cx="17810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2686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connection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7191156" y="2897849"/>
            <a:ext cx="1619140" cy="76178"/>
          </a:xfrm>
          <a:prstGeom prst="roundRect">
            <a:avLst>
              <a:gd name="adj" fmla="val 50000"/>
            </a:avLst>
          </a:prstGeom>
          <a:solidFill>
            <a:srgbClr val="2D9A8E"/>
          </a:solidFill>
          <a:ln/>
        </p:spPr>
      </p:sp>
      <p:sp>
        <p:nvSpPr>
          <p:cNvPr id="20" name="Text 18"/>
          <p:cNvSpPr/>
          <p:nvPr/>
        </p:nvSpPr>
        <p:spPr>
          <a:xfrm>
            <a:off x="7110199" y="3145455"/>
            <a:ext cx="17810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connection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7191156" y="3397802"/>
            <a:ext cx="1619140" cy="76178"/>
          </a:xfrm>
          <a:prstGeom prst="roundRect">
            <a:avLst>
              <a:gd name="adj" fmla="val 50000"/>
            </a:avLst>
          </a:prstGeom>
          <a:solidFill>
            <a:srgbClr val="9AA6B0"/>
          </a:solidFill>
          <a:ln/>
        </p:spPr>
      </p:sp>
      <p:sp>
        <p:nvSpPr>
          <p:cNvPr id="22" name="Text 20"/>
          <p:cNvSpPr/>
          <p:nvPr/>
        </p:nvSpPr>
        <p:spPr>
          <a:xfrm>
            <a:off x="7110199" y="3645408"/>
            <a:ext cx="1781054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25" b="1" dirty="0">
                <a:solidFill>
                  <a:srgbClr val="56A7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party data feed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7191156" y="3897754"/>
            <a:ext cx="1619140" cy="76178"/>
          </a:xfrm>
          <a:prstGeom prst="roundRect">
            <a:avLst>
              <a:gd name="adj" fmla="val 50000"/>
            </a:avLst>
          </a:prstGeom>
          <a:solidFill>
            <a:srgbClr val="A9D3B3"/>
          </a:solidFill>
          <a:ln/>
        </p:spPr>
      </p:sp>
      <p:sp>
        <p:nvSpPr>
          <p:cNvPr id="24" name="Shape 22"/>
          <p:cNvSpPr/>
          <p:nvPr/>
        </p:nvSpPr>
        <p:spPr>
          <a:xfrm>
            <a:off x="9095935" y="2523905"/>
            <a:ext cx="1428640" cy="1571515"/>
          </a:xfrm>
          <a:prstGeom prst="rect">
            <a:avLst/>
          </a:prstGeom>
          <a:solidFill>
            <a:srgbClr val="56A773"/>
          </a:solidFill>
          <a:ln/>
        </p:spPr>
      </p:sp>
      <p:sp>
        <p:nvSpPr>
          <p:cNvPr id="25" name="Text 23"/>
          <p:cNvSpPr/>
          <p:nvPr/>
        </p:nvSpPr>
        <p:spPr>
          <a:xfrm>
            <a:off x="9615511" y="3126824"/>
            <a:ext cx="465579" cy="21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39333" y="3309607"/>
            <a:ext cx="618045" cy="21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</a:t>
            </a:r>
            <a:endParaRPr lang="en-US" sz="12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78" y="6362790"/>
            <a:ext cx="1122715" cy="20946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672837" y="6429376"/>
            <a:ext cx="2205247" cy="142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16" kern="0" dirty="0">
                <a:solidFill>
                  <a:srgbClr val="7A8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CALASTONE LIMITED 2026 · 5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892" cy="6857891"/>
          </a:xfrm>
          <a:prstGeom prst="rect">
            <a:avLst/>
          </a:prstGeom>
          <a:ln/>
          <a:effectLst>
            <a:outerShdw sx="100000" sy="100000" kx="0" ky="0" algn="bl" rotWithShape="0" blurRad="285750" dist="95250" dir="5400000">
              <a:srgbClr val="22323D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1142890" y="1142890"/>
            <a:ext cx="4571890" cy="5029178"/>
          </a:xfrm>
          <a:prstGeom prst="rect">
            <a:avLst/>
          </a:prstGeom>
          <a:solidFill>
            <a:srgbClr val="FFFFFF">
              <a:alpha val="3000"/>
            </a:srgbClr>
          </a:solidFill>
          <a:ln w="7056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700000">
            <a:off x="8019013" y="9289630"/>
            <a:ext cx="5905502" cy="1047750"/>
          </a:xfrm>
          <a:prstGeom prst="rect">
            <a:avLst/>
          </a:prstGeom>
          <a:gradFill rotWithShape="1">
            <a:gsLst>
              <a:gs pos="0">
                <a:srgbClr val="2D9A8E">
                  <a:alpha val="100000"/>
                </a:srgbClr>
              </a:gs>
              <a:gs pos="100000">
                <a:srgbClr val="35B57E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Text 3"/>
          <p:cNvSpPr/>
          <p:nvPr/>
        </p:nvSpPr>
        <p:spPr>
          <a:xfrm>
            <a:off x="914356" y="1619140"/>
            <a:ext cx="6384242" cy="161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195" kern="0" dirty="0">
                <a:solidFill>
                  <a:srgbClr val="2EC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NETWORK · 2025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14356" y="1952405"/>
            <a:ext cx="6384242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1250" b="1" spc="-337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273.3m </a:t>
            </a:r>
            <a:pPr algn="l" indent="0" marL="0">
              <a:lnSpc>
                <a:spcPct val="90000"/>
              </a:lnSpc>
              <a:buNone/>
            </a:pPr>
            <a:r>
              <a:rPr lang="en-US" sz="4050" b="1" spc="-337" kern="0" dirty="0">
                <a:solidFill>
                  <a:srgbClr val="2ECB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914356" y="3409708"/>
            <a:ext cx="5493907" cy="6667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50" dirty="0">
                <a:solidFill>
                  <a:srgbClr val="AEB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across the network in 2025, connecting 51 countries through 321 live trading corridors.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356" y="4867341"/>
            <a:ext cx="134740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109.8m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356" y="5515020"/>
            <a:ext cx="1347402" cy="142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32" kern="0" dirty="0">
                <a:solidFill>
                  <a:srgbClr val="7D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CROSS-BORDER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2748801" y="4867341"/>
            <a:ext cx="84371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8801" y="5515020"/>
            <a:ext cx="843712" cy="142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32" kern="0" dirty="0">
                <a:solidFill>
                  <a:srgbClr val="7D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125847" y="4867341"/>
            <a:ext cx="12069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25847" y="5515020"/>
            <a:ext cx="1206963" cy="142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32" kern="0" dirty="0">
                <a:solidFill>
                  <a:srgbClr val="7D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CORRIDORS</a:t>
            </a:r>
            <a:endParaRPr lang="en-US" sz="825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356" y="6134145"/>
            <a:ext cx="1224911" cy="22853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787600" y="6219804"/>
            <a:ext cx="1974233" cy="1428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b="1" spc="116" kern="0" dirty="0">
                <a:solidFill>
                  <a:srgbClr val="7D90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CALASTONE LIMITED 2026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2026-06-22T10:33:44Z</dcterms:created>
  <dcterms:modified xsi:type="dcterms:W3CDTF">2026-06-22T10:33:44Z</dcterms:modified>
</cp:coreProperties>
</file>